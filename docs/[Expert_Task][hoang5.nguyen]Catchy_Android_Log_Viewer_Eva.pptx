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81" r:id="rId2"/>
    <p:sldId id="256" r:id="rId3"/>
    <p:sldId id="282" r:id="rId4"/>
    <p:sldId id="257" r:id="rId5"/>
    <p:sldId id="258" r:id="rId6"/>
    <p:sldId id="259" r:id="rId7"/>
    <p:sldId id="260" r:id="rId8"/>
    <p:sldId id="261" r:id="rId9"/>
    <p:sldId id="284" r:id="rId10"/>
    <p:sldId id="262" r:id="rId11"/>
    <p:sldId id="263" r:id="rId12"/>
    <p:sldId id="264" r:id="rId13"/>
    <p:sldId id="266" r:id="rId14"/>
    <p:sldId id="265" r:id="rId15"/>
    <p:sldId id="267" r:id="rId16"/>
    <p:sldId id="273" r:id="rId17"/>
    <p:sldId id="274" r:id="rId18"/>
    <p:sldId id="275" r:id="rId19"/>
    <p:sldId id="276" r:id="rId20"/>
    <p:sldId id="268" r:id="rId21"/>
    <p:sldId id="270" r:id="rId22"/>
    <p:sldId id="277" r:id="rId23"/>
    <p:sldId id="278" r:id="rId24"/>
    <p:sldId id="280" r:id="rId25"/>
    <p:sldId id="272" r:id="rId26"/>
    <p:sldId id="279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31FAB-3569-4268-ADE4-21751A4D2B5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99F42-699B-41DC-8DA4-94E98C9D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3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2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BDBC-A30D-5A2B-C08F-21754223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3BC28-0FA5-C236-9FAD-B6ED53A56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57A07-90E5-C8AA-8B27-9AA745DFE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071C1-0A57-8D17-4842-F755D322B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9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8D1A-CB93-27B9-F988-4DE24004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D7EA3-230F-C40A-5148-398B00446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9DC66-ECF4-64AD-FB46-349144480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6678-9931-057D-4721-DB75CC448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61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67B3-76D5-0C80-09B7-FAB58FEB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9719B-EB24-3C0B-66C4-825007327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F92EB-6951-A393-F49B-C25FF610B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921B2-3A85-BFCB-EDDE-8FE17EB4E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78297-363C-0149-10B4-BAE348F3CC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78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22178-DDBA-3FBC-48BB-C2BC8976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416F84-AF1E-8740-F768-8E424CB8D928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Catchy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59ACA-B9CB-E66B-DC02-6205FC024D36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Desktop Log Viewer for Embedded and Android Debugging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C8945-AFB0-86D4-BD3F-1CA0492F9D39}"/>
              </a:ext>
            </a:extLst>
          </p:cNvPr>
          <p:cNvSpPr txBox="1"/>
          <p:nvPr/>
        </p:nvSpPr>
        <p:spPr>
          <a:xfrm>
            <a:off x="1443228" y="4792090"/>
            <a:ext cx="9305544" cy="1559401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Project: Catchy (Log Analysis &amp; Real-Time Monitoring Ecosystem)</a:t>
            </a: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Presenter: Nguyen Van Hoang (hoang5.nguyen)</a:t>
            </a: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Program: SW Expert Task</a:t>
            </a:r>
          </a:p>
          <a:p>
            <a:endParaRPr sz="220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03B635D-F241-E0DA-9E6E-2686FA0F8D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8262" y="1200982"/>
            <a:ext cx="3255476" cy="325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82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97984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0F0F0"/>
                </a:solidFill>
              </a:rPr>
              <a:t>Executive Summary: Quantitative &amp; Qualitative business achievements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59" y="1269683"/>
            <a:ext cx="10972800" cy="4944943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Performance: Slashed 500MB log loading times from 45s to 12s (~3.7x faster than legacy systems).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Integration: Unified log analysis, bookmarking, and </a:t>
            </a:r>
            <a:r>
              <a:rPr lang="en-US" sz="2200" dirty="0" err="1">
                <a:solidFill>
                  <a:srgbClr val="F0F0F0"/>
                </a:solidFill>
                <a:latin typeface="Segoe UI"/>
              </a:rPr>
              <a:t>Scrcpy</a:t>
            </a:r>
            <a:r>
              <a:rPr lang="en-US" sz="2200" dirty="0">
                <a:solidFill>
                  <a:srgbClr val="F0F0F0"/>
                </a:solidFill>
                <a:latin typeface="Segoe UI"/>
              </a:rPr>
              <a:t> workflows to eliminate tool friction.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Efficiency: Automated triage via smart filters, keyboard shortcuts, and split-view readability.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Operations: Optimized Android/embedded QA productivity with auto-detection and live stream retention.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Strategic Value: Delivered superior traceability and faster release validation by reducing context switching.</a:t>
            </a:r>
            <a:endParaRPr sz="2200" dirty="0">
              <a:solidFill>
                <a:srgbClr val="F0F0F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29453-F1B3-507E-3DEE-972FB2E7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6B31C6-12C4-EB33-F406-A830CCC8CE09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Catchy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732B0-76B2-F59E-B255-6BACF4F1D774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Desktop Log Viewer for Embedded and Android Debugging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10225-DA90-7472-9FB2-4631A91679B7}"/>
              </a:ext>
            </a:extLst>
          </p:cNvPr>
          <p:cNvSpPr txBox="1"/>
          <p:nvPr/>
        </p:nvSpPr>
        <p:spPr>
          <a:xfrm>
            <a:off x="822959" y="1737360"/>
            <a:ext cx="6766561" cy="4267835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The Platform: Combines comprehensive log analysis and real-time logcat monitoring in one unified interface.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The Architecture: Purpose-built for large-scale data handling, advanced multi-file filtering, and workflow automation.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The Value: Drives rapid debugging, flawless traceability, and superior usability over traditional inspection methods.</a:t>
            </a:r>
          </a:p>
          <a:p>
            <a:endParaRPr sz="2200" dirty="0">
              <a:solidFill>
                <a:srgbClr val="F0F0F0"/>
              </a:solidFill>
              <a:latin typeface="Segoe UI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344A34-92B3-C02F-C813-1953571216CE}"/>
              </a:ext>
            </a:extLst>
          </p:cNvPr>
          <p:cNvSpPr/>
          <p:nvPr/>
        </p:nvSpPr>
        <p:spPr>
          <a:xfrm>
            <a:off x="7589520" y="1737360"/>
            <a:ext cx="3657600" cy="3675888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Segoe UI"/>
              </a:rPr>
              <a:t>Catchy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Log viewer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Live stream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Search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Bookmark</a:t>
            </a:r>
            <a:endParaRPr lang="en-US" sz="2000" b="1" dirty="0">
              <a:solidFill>
                <a:srgbClr val="FFFFFF"/>
              </a:solidFill>
              <a:latin typeface="Segoe UI"/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Segoe UI"/>
              </a:rPr>
              <a:t>Screen Copy</a:t>
            </a:r>
            <a:endParaRPr sz="2000" b="1" dirty="0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30652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2269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0F0F0"/>
                </a:solidFill>
              </a:rPr>
              <a:t>Problem Statement: Current Workflow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Limitations of the Existing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9344"/>
            <a:ext cx="6583680" cy="3436838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100" dirty="0">
                <a:solidFill>
                  <a:srgbClr val="F0F0F0"/>
                </a:solidFill>
                <a:latin typeface="Segoe UI"/>
              </a:rPr>
              <a:t>• Scalability: Latency issues when handling large-scale log datasets.</a:t>
            </a:r>
          </a:p>
          <a:p>
            <a:r>
              <a:rPr lang="en-US" sz="2100" dirty="0">
                <a:solidFill>
                  <a:srgbClr val="F0F0F0"/>
                </a:solidFill>
                <a:latin typeface="Segoe UI"/>
              </a:rPr>
              <a:t>• Efficiency: Insufficient search and filtering mechanics for fast-paced triaging.</a:t>
            </a:r>
          </a:p>
          <a:p>
            <a:r>
              <a:rPr lang="en-US" sz="2100" dirty="0">
                <a:solidFill>
                  <a:srgbClr val="F0F0F0"/>
                </a:solidFill>
                <a:latin typeface="Segoe UI"/>
              </a:rPr>
              <a:t>• Friction: Constant context switching between log data and real-time device activity.</a:t>
            </a:r>
          </a:p>
          <a:p>
            <a:r>
              <a:rPr lang="en-US" sz="2100" dirty="0">
                <a:solidFill>
                  <a:srgbClr val="F0F0F0"/>
                </a:solidFill>
                <a:latin typeface="Segoe UI"/>
              </a:rPr>
              <a:t>• Visibility: Poor traceability of key events during iterative debugging cycles.</a:t>
            </a:r>
          </a:p>
          <a:p>
            <a:r>
              <a:rPr lang="en-US" sz="2100" dirty="0">
                <a:solidFill>
                  <a:srgbClr val="F0F0F0"/>
                </a:solidFill>
                <a:latin typeface="Segoe UI"/>
              </a:rPr>
              <a:t>• Rigidity: Lack of integrated support for live streaming investigation and structured analysis.</a:t>
            </a:r>
            <a:endParaRPr sz="2100" dirty="0">
              <a:solidFill>
                <a:srgbClr val="F0F0F0"/>
              </a:solidFill>
              <a:latin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6720" y="1837944"/>
            <a:ext cx="3401568" cy="283464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Segoe UI"/>
              </a:rPr>
              <a:t>Bonnibel.exe</a:t>
            </a:r>
            <a:br>
              <a:rPr dirty="0"/>
            </a:br>
            <a:r>
              <a:rPr sz="1900" b="1" dirty="0">
                <a:solidFill>
                  <a:srgbClr val="FFFFFF"/>
                </a:solidFill>
                <a:latin typeface="Segoe UI"/>
              </a:rPr>
              <a:t>Limited workflow</a:t>
            </a:r>
            <a:br>
              <a:rPr dirty="0"/>
            </a:br>
            <a:r>
              <a:rPr sz="1900" b="1" dirty="0">
                <a:solidFill>
                  <a:srgbClr val="FFFFFF"/>
                </a:solidFill>
                <a:latin typeface="Segoe UI"/>
              </a:rPr>
              <a:t>Slower triage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Comparative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Legacy Tool Versus Proposed System</a:t>
            </a:r>
          </a:p>
        </p:txBody>
      </p:sp>
      <p:pic>
        <p:nvPicPr>
          <p:cNvPr id="4" name="Picture 3" descr="Main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3291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3DE8BD-9BB5-579B-6E0C-FBA2801F5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110" y="1644748"/>
            <a:ext cx="6142239" cy="32930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0C0247-4CA5-BFB9-9821-77AB71ECCD1C}"/>
              </a:ext>
            </a:extLst>
          </p:cNvPr>
          <p:cNvSpPr txBox="1"/>
          <p:nvPr/>
        </p:nvSpPr>
        <p:spPr>
          <a:xfrm>
            <a:off x="914400" y="5295426"/>
            <a:ext cx="10241280" cy="820738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redesigned interface delivers an intuitive layout, minimized operational friction, and a highly optimized debugging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Measured Loading-Time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8992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File size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Catchy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Bonnibel.exe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3s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9s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250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6s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500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45s / occasional UI freeze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86968" y="5074920"/>
            <a:ext cx="9875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/>
              </a:rPr>
              <a:t>• Catchy: Sustained, lag-free responsiveness and smooth scrolling even when handling massive log datasets.</a:t>
            </a:r>
          </a:p>
          <a:p>
            <a:r>
              <a:rPr lang="en-US" sz="2000" b="1" dirty="0">
                <a:solidFill>
                  <a:schemeClr val="bg1"/>
                </a:solidFill>
                <a:latin typeface="Segoe UI"/>
              </a:rPr>
              <a:t>• Legacy Tooling: Noticeable bottlenecks, application freezes, and severe processing delays under identical data loads.</a:t>
            </a:r>
            <a:endParaRPr sz="2000" b="1" dirty="0">
              <a:solidFill>
                <a:schemeClr val="bg1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Evidence of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Major Bottleneck Reduction and Enhanced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4298613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File Ingestion: Slashed 500MB log load times from 45s (Bonnibel) to 12s (Catchy) with zero interface freezes.</a:t>
            </a:r>
          </a:p>
          <a:p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Live Monitoring: Adaptive UI prevents lag or performance degradation during intensive live logcat streaming.</a:t>
            </a:r>
          </a:p>
          <a:p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Device Handling: Automatic ADB state detection streamlines connections and boosts operational stability.</a:t>
            </a:r>
          </a:p>
          <a:p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Developer Workflow: Smart automation and keyboard shortcuts dramatically cut manual triaging efforts.</a:t>
            </a:r>
          </a:p>
          <a:p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Data Retention: Sustains a rolling 500MB data buffer while preserving smooth layout scrolling.</a:t>
            </a:r>
            <a:endParaRPr sz="1900" dirty="0">
              <a:solidFill>
                <a:srgbClr val="F0F0F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280160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QML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645920"/>
            <a:ext cx="2560320" cy="1280160"/>
          </a:xfrm>
          <a:prstGeom prst="roundRect">
            <a:avLst/>
          </a:prstGeom>
          <a:solidFill>
            <a:srgbClr val="98C379"/>
          </a:solidFill>
          <a:ln w="1270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2560320" cy="1280160"/>
          </a:xfrm>
          <a:prstGeom prst="roundRect">
            <a:avLst/>
          </a:prstGeom>
          <a:solidFill>
            <a:srgbClr val="C678DD"/>
          </a:solidFill>
          <a:ln w="1270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Log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645920"/>
            <a:ext cx="2011680" cy="128016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Filters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Search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Bookmark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5796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High-Throughput Concurrency: Utilizes an MVVM-inspired architecture backed by dedicated background worker threads to decouple massive file loading and live streaming ingestion from the main thread.</a:t>
            </a:r>
          </a:p>
          <a:p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Separation of Concerns: A centralized controller orchestrates core business logic, while a optimized QML presentation layer guarantees fluid UI rendering and low-latency user interactions.</a:t>
            </a:r>
            <a:endParaRPr sz="2000" b="0" dirty="0">
              <a:solidFill>
                <a:srgbClr val="F0F0F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8AE9E-1685-7A7A-E231-F8D0AFC4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849B10-BCD7-5B44-0489-3FACEEF56496}"/>
              </a:ext>
            </a:extLst>
          </p:cNvPr>
          <p:cNvSpPr txBox="1"/>
          <p:nvPr/>
        </p:nvSpPr>
        <p:spPr>
          <a:xfrm>
            <a:off x="548640" y="320040"/>
            <a:ext cx="655121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0F0F0"/>
                </a:solidFill>
              </a:rPr>
              <a:t>Performance Tuning &amp; Resource Management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B9A71-6069-4BEB-6960-29BF8696D4BB}"/>
              </a:ext>
            </a:extLst>
          </p:cNvPr>
          <p:cNvSpPr txBox="1"/>
          <p:nvPr/>
        </p:nvSpPr>
        <p:spPr>
          <a:xfrm>
            <a:off x="548640" y="775907"/>
            <a:ext cx="114589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>
              <a:solidFill>
                <a:srgbClr val="F0F0F0"/>
              </a:solidFill>
            </a:endParaRPr>
          </a:p>
          <a:p>
            <a:r>
              <a:rPr lang="en-US" sz="2000" dirty="0">
                <a:solidFill>
                  <a:srgbClr val="F0F0F0"/>
                </a:solidFill>
              </a:rPr>
              <a:t>📥 Smooth File Handling (Loading &amp; Saving)</a:t>
            </a:r>
          </a:p>
          <a:p>
            <a:r>
              <a:rPr lang="en-US" sz="2000" dirty="0">
                <a:solidFill>
                  <a:srgbClr val="F0F0F0"/>
                </a:solidFill>
              </a:rPr>
              <a:t>• Smart Data Batches (50,000 rows / load): Processes log files in fast, metered blocks.</a:t>
            </a:r>
          </a:p>
          <a:p>
            <a:r>
              <a:rPr lang="en-US" sz="2000" dirty="0">
                <a:solidFill>
                  <a:srgbClr val="F0F0F0"/>
                </a:solidFill>
              </a:rPr>
              <a:t>	• Benefit: Zero UI Freezing. The app stays fully responsive while loading massive datasets.</a:t>
            </a:r>
          </a:p>
          <a:p>
            <a:r>
              <a:rPr lang="en-US" sz="2000" dirty="0">
                <a:solidFill>
                  <a:srgbClr val="F0F0F0"/>
                </a:solidFill>
              </a:rPr>
              <a:t>• Controlled File Exports (10,000 rows / write): Saves files in stable, bite-sized fragments.</a:t>
            </a:r>
          </a:p>
          <a:p>
            <a:r>
              <a:rPr lang="en-US" sz="2000" dirty="0">
                <a:solidFill>
                  <a:srgbClr val="F0F0F0"/>
                </a:solidFill>
              </a:rPr>
              <a:t>	• Benefit: Crash Prevention. Eliminates sudden computer memory spikes when saving data.</a:t>
            </a:r>
          </a:p>
          <a:p>
            <a:r>
              <a:rPr lang="en-US" sz="2000" dirty="0">
                <a:solidFill>
                  <a:srgbClr val="F0F0F0"/>
                </a:solidFill>
              </a:rPr>
              <a:t>• Optimized Hardware Buffer (64 KB I/O): Matches the optimal hardware transfer speed of modern storage drives.</a:t>
            </a:r>
          </a:p>
          <a:p>
            <a:r>
              <a:rPr lang="en-US" sz="2000" dirty="0">
                <a:solidFill>
                  <a:srgbClr val="F0F0F0"/>
                </a:solidFill>
              </a:rPr>
              <a:t>	• Benefit: Maximum Speed. Achieves the fastest possible file read and write times.</a:t>
            </a:r>
            <a:br>
              <a:rPr lang="en-US" sz="2000" b="1" dirty="0">
                <a:solidFill>
                  <a:srgbClr val="F0F0F0"/>
                </a:solidFill>
              </a:rPr>
            </a:br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🔀 Continuous Live Streaming (Logcat Retention)</a:t>
            </a: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Automated File Splitting (50 MB limit): Instantly cuts ongoing live streams into separate, lightweight 50MB files.</a:t>
            </a: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	• Benefit: Lightweight Data. Keeps file sizes small so searching and filtering remain lightning-fast.</a:t>
            </a: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Strict History Safety Cap (500 MB / 10 files max): Retains only the 10 most recent files. It seamlessly recycles the oldest file when file number 11 arrives.</a:t>
            </a: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	• Benefit: Infinite Live Monitoring. Engineers can leave the live stream running for days without ever overloading the computer's memory.</a:t>
            </a:r>
            <a:endParaRPr sz="2000" dirty="0">
              <a:solidFill>
                <a:srgbClr val="F0F0F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09835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Core Functional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69848"/>
            <a:ext cx="11183112" cy="5437386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Scalable Log Processing: High-performance background worker threads handle massive files asynchronously, complete with real-time visual progress indicators.</a:t>
            </a:r>
          </a:p>
          <a:p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Dynamic Logcat Ingestion: Live streaming data pipelines paired with smart auto-scrolling and instantaneous refreshes.</a:t>
            </a:r>
          </a:p>
          <a:p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Precision Analysis: Multi-keyword highlighting driven by a vibrant, color-coded pattern matching system.</a:t>
            </a:r>
          </a:p>
          <a:p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Targeted Debugging: Custom named filters optimized for targeted process-level and tag-based diagnostics.</a:t>
            </a:r>
          </a:p>
          <a:p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Context Preservation: Built-in bookmarking system to flag, save, and instantly revisit critical log events.</a:t>
            </a:r>
          </a:p>
          <a:p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r>
              <a:rPr lang="en-US" sz="2000" dirty="0">
                <a:solidFill>
                  <a:srgbClr val="F0F0F0"/>
                </a:solidFill>
                <a:latin typeface="Segoe UI"/>
              </a:rPr>
              <a:t>• Embedded Control Integration: Native </a:t>
            </a:r>
            <a:r>
              <a:rPr lang="en-US" sz="2000" dirty="0" err="1">
                <a:solidFill>
                  <a:srgbClr val="F0F0F0"/>
                </a:solidFill>
                <a:latin typeface="Segoe UI"/>
              </a:rPr>
              <a:t>Scrcpy</a:t>
            </a:r>
            <a:r>
              <a:rPr lang="en-US" sz="2000" dirty="0">
                <a:solidFill>
                  <a:srgbClr val="F0F0F0"/>
                </a:solidFill>
                <a:latin typeface="Segoe UI"/>
              </a:rPr>
              <a:t> synchronization enabling real-time, device-side visual verification and manual validation.</a:t>
            </a:r>
            <a:endParaRPr sz="2000" dirty="0">
              <a:solidFill>
                <a:srgbClr val="F0F0F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Full Log Viewer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Main view with log table and filtering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The full log viewer delivers an intuitive, structured interface optimized for massive datasets—significantly outperforming text-heavy legacy alternatives in analysis speed.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D750F9-14F0-753E-1154-F343CDC9C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73" y="1385987"/>
            <a:ext cx="9361534" cy="3948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Long Search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Quick keyword search and result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546" y="5250063"/>
            <a:ext cx="10515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High-Velocity Keyword Search: A dedicated search bar delivers instant querying, enhanced visibility, and rapid navigation directly to relevant log entries.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Intelligent History Hints: Displays search history suggestions inline as you type, accessible instantly via a standard Ctrl + Space shortcut.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098E64-E485-920E-8AC7-ADFF6864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00" y="1197324"/>
            <a:ext cx="9429750" cy="348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6B346-5AC7-036E-4ABF-0ADA994C6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25" y="1635758"/>
            <a:ext cx="9401175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B1043-BA5C-9291-7ABA-81B106216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286" y="2654103"/>
            <a:ext cx="9391650" cy="2400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6BCE4D-5D4A-59B4-4686-9C7ED500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12" y="2132463"/>
            <a:ext cx="94488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Color-coded tag and process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Noise Reduction &amp; Signal Isolation: Combines customizable named filters with intuitive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color-coding to instantly isolate critical processes and strip out background noise from massive log datasets.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A3E0F-2019-9CFC-C978-D3B30F7DF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100" y="1508760"/>
            <a:ext cx="6363799" cy="37505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and Bookmark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Filter management and bookmark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21139"/>
            <a:ext cx="105156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Intuitive Line Bookmarking: Click to select any log line, then right-click to instantly access the bookmarking and management menu.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Unified Workspace (Left-Side Panel): Monitor active filters and bookmarked milestones seamlessly without leaving the main debugging view.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Instant Context Jump: Click any bookmark link to leap directly to the targeted line and immediately analyze the surrounding code context.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76298-756B-2DB9-4D22-9B9B78BC8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47" y="1377086"/>
            <a:ext cx="6909025" cy="32900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552C6E-7272-8F9D-FDD1-39216DFED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779" y="1377086"/>
            <a:ext cx="161925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Split View for Long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Readable handling of expanded log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464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Optimized Split Layout: The intuitive split view preserves the readability of extended line content, eliminating the cramped, chaotic layouts that stall legacy debugging.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Hierarchical Two-Layer Search: Employs an advanced stacked query mechanism—first isolating datasets by process/tag, and then executing secondary deep keyword searches within those refined subsets.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019B0D-33F6-64D5-5BAC-B0810981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43" y="1143001"/>
            <a:ext cx="7202801" cy="38775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A8EA1-1229-DD38-3BC2-03EC4B23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368AF-A579-78EF-9546-B71B2CD8DF23}"/>
              </a:ext>
            </a:extLst>
          </p:cNvPr>
          <p:cNvSpPr txBox="1"/>
          <p:nvPr/>
        </p:nvSpPr>
        <p:spPr>
          <a:xfrm>
            <a:off x="548640" y="320040"/>
            <a:ext cx="662732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0F0F0"/>
                </a:solidFill>
              </a:rPr>
              <a:t>Challenge: Analyzing Disjointed Multi-File Logs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278EE-B8FE-9BC0-A4AA-BC192E3B5ABE}"/>
              </a:ext>
            </a:extLst>
          </p:cNvPr>
          <p:cNvSpPr txBox="1"/>
          <p:nvPr/>
        </p:nvSpPr>
        <p:spPr>
          <a:xfrm>
            <a:off x="548640" y="886748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Alternative 1: Multi-Tab Browsing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Time-consuming and mentally fatiguing; forces engineers to manually track and correlate timelines across isolated tabs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A494AE-B9F9-728A-F5DF-8C976654E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5" y="1966827"/>
            <a:ext cx="9544929" cy="13149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ED0903-D028-2009-1904-FCFA886B7C7D}"/>
              </a:ext>
            </a:extLst>
          </p:cNvPr>
          <p:cNvSpPr txBox="1"/>
          <p:nvPr/>
        </p:nvSpPr>
        <p:spPr>
          <a:xfrm>
            <a:off x="548640" y="3684792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Alternative 2: Pre-Merge Scripting (.bat, .</a:t>
            </a:r>
            <a:r>
              <a:rPr lang="en-US" sz="1900" dirty="0" err="1">
                <a:solidFill>
                  <a:srgbClr val="F0F0F0"/>
                </a:solidFill>
                <a:latin typeface="Segoe UI"/>
              </a:rPr>
              <a:t>py</a:t>
            </a:r>
            <a:r>
              <a:rPr lang="en-US" sz="1900" dirty="0">
                <a:solidFill>
                  <a:srgbClr val="F0F0F0"/>
                </a:solidFill>
                <a:latin typeface="Segoe UI"/>
              </a:rPr>
              <a:t>)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Requires writing, maintaining, and executing external scripts to manually stitch files together before analysis can even begin.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A1216-B0D7-F611-DB16-0AEC55C4D78E}"/>
              </a:ext>
            </a:extLst>
          </p:cNvPr>
          <p:cNvSpPr txBox="1"/>
          <p:nvPr/>
        </p:nvSpPr>
        <p:spPr>
          <a:xfrm>
            <a:off x="642425" y="5238165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The Catchy Solution: Native Multi-File Merging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Instantly append or drop multiple log files directly into the active workspace. Catchy aggregates them into a single unified timeline within a single tab, eliminating manual preprocessing.</a:t>
            </a:r>
            <a:endParaRPr lang="en-US" sz="1900" b="0" dirty="0">
              <a:solidFill>
                <a:srgbClr val="F0F0F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36658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19682-872F-0D87-2DB2-5B691B5C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12E04-B7DF-A252-6486-BF2786023EE4}"/>
              </a:ext>
            </a:extLst>
          </p:cNvPr>
          <p:cNvSpPr txBox="1"/>
          <p:nvPr/>
        </p:nvSpPr>
        <p:spPr>
          <a:xfrm>
            <a:off x="548640" y="320040"/>
            <a:ext cx="646824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0F0F0"/>
                </a:solidFill>
              </a:rPr>
              <a:t>Dynamic Loading: Open vs. Merge Workflows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9725C-062B-E592-9CF2-2D5E0CA1ADB6}"/>
              </a:ext>
            </a:extLst>
          </p:cNvPr>
          <p:cNvSpPr txBox="1"/>
          <p:nvPr/>
        </p:nvSpPr>
        <p:spPr>
          <a:xfrm>
            <a:off x="838200" y="4508641"/>
            <a:ext cx="105156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Open New Log Session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Action: Drag file onto the top half of the screen.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Result: Flushes active memory and spins up an isolated, clean log workspace.</a:t>
            </a:r>
          </a:p>
          <a:p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Append &amp; Merge Pipeline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Action: Drop file directly into the active viewer.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Result: Concurrently streams new data into the current buffer inside the same unified tab.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B78AD-CF8D-A774-6370-C38881486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963" y="1093468"/>
            <a:ext cx="6160477" cy="33211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184C70-DD30-A173-7FDB-C18535AC2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5816" y="1120900"/>
            <a:ext cx="24003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98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8F95B-ACBD-886E-9539-FF6A42C9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83DE79-3EC5-289C-53C5-D213FDEBA252}"/>
              </a:ext>
            </a:extLst>
          </p:cNvPr>
          <p:cNvSpPr txBox="1"/>
          <p:nvPr/>
        </p:nvSpPr>
        <p:spPr>
          <a:xfrm>
            <a:off x="548640" y="320040"/>
            <a:ext cx="47572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0F0F0"/>
                </a:solidFill>
              </a:rPr>
              <a:t>The Merged Interface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373A9-38D4-FFE9-59C5-55CB000A38CD}"/>
              </a:ext>
            </a:extLst>
          </p:cNvPr>
          <p:cNvSpPr txBox="1"/>
          <p:nvPr/>
        </p:nvSpPr>
        <p:spPr>
          <a:xfrm>
            <a:off x="822960" y="5157216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Single-File View Simplicity: Eradicates the chaos of multi-window setups by rendering all aggregated log entries into one continuous, readable stream.</a:t>
            </a:r>
          </a:p>
          <a:p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Composite Naming Convention: Automatically generates a brand-new file name string by stitching together the original file names for easy tracking.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8AFF6-EF07-C4AC-7F14-EF5523DAF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947" y="812483"/>
            <a:ext cx="7809914" cy="41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80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3B982-8673-F2F5-C862-8A5DEE34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A2418A-B1D0-F15F-68E1-E98BB0989C04}"/>
              </a:ext>
            </a:extLst>
          </p:cNvPr>
          <p:cNvSpPr txBox="1"/>
          <p:nvPr/>
        </p:nvSpPr>
        <p:spPr>
          <a:xfrm>
            <a:off x="548640" y="320040"/>
            <a:ext cx="650312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0F0F0"/>
                </a:solidFill>
              </a:rPr>
              <a:t>Maximizing Readability for Complex Log Lines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86544-9A51-A710-55FD-17D8889334C5}"/>
              </a:ext>
            </a:extLst>
          </p:cNvPr>
          <p:cNvSpPr txBox="1"/>
          <p:nvPr/>
        </p:nvSpPr>
        <p:spPr>
          <a:xfrm>
            <a:off x="658368" y="5215842"/>
            <a:ext cx="10515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Maximum Screen Utilization: Dedicated layout toggle allows an individual long log line to span the entire display.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Frictionless Text Inspection: Eradicates visual clutter and horizontal scrolling bottlenecks during intensive diagnostic reviews.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641C89-98D3-43D5-8A5F-EEB7CA36D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54" y="812482"/>
            <a:ext cx="8125030" cy="434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91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Auto-enable </a:t>
            </a:r>
            <a:r>
              <a:rPr sz="2600" b="1" dirty="0" err="1">
                <a:solidFill>
                  <a:srgbClr val="F0F0F0"/>
                </a:solidFill>
              </a:rPr>
              <a:t>Scrcpy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Smart device integration</a:t>
            </a:r>
          </a:p>
        </p:txBody>
      </p:sp>
      <p:pic>
        <p:nvPicPr>
          <p:cNvPr id="4" name="Picture 3" descr="Auto_Enable_Scrc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77" y="1143000"/>
            <a:ext cx="5648183" cy="3895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129739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Zero-Touch </a:t>
            </a:r>
            <a:r>
              <a:rPr lang="en-US" sz="1900" dirty="0" err="1">
                <a:solidFill>
                  <a:srgbClr val="F0F0F0"/>
                </a:solidFill>
                <a:latin typeface="Segoe UI"/>
              </a:rPr>
              <a:t>Scrcpy</a:t>
            </a:r>
            <a:r>
              <a:rPr lang="en-US" sz="1900" dirty="0">
                <a:solidFill>
                  <a:srgbClr val="F0F0F0"/>
                </a:solidFill>
                <a:latin typeface="Segoe UI"/>
              </a:rPr>
              <a:t> Initialization: The moment an Android target is connected via ADB, the application dynamically launches the integrated screen-mirroring workflow.</a:t>
            </a:r>
          </a:p>
          <a:p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• Frictionless Real-Time Debugging: Eliminates manual tool launching and command-line setup, creating a completely fluid, concurrent log-and-display inspection environment.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Testing &amp;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372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Validation area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Large log loading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Responsive while reading and parsing huge files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Live stream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Stable updates and auto-scroll control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Filters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Fast matching and color grouping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Search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Highlight multiple keywords correctly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Bookmarks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Quick jump and persistence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UI behavior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Dark/light theme and table responsiveness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ADB device handling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Auto enable/disable based on connection state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242C7-7E99-76A4-C8CE-4C3E47A1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FB98C-3A5B-90E4-EB8D-9E8490799090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Proof of the New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44D1E-392F-424E-F652-A02FA56A62DD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7ECFA-ABC0-07F0-808B-906F54BEDE9E}"/>
              </a:ext>
            </a:extLst>
          </p:cNvPr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0F0F0"/>
                </a:solidFill>
                <a:latin typeface="Segoe UI"/>
              </a:rPr>
              <a:t>By pairing a clean interface design with a robust, automated feature set, the platform eliminates operational friction and maximizes overall triaging efficiency.</a:t>
            </a:r>
            <a:endParaRPr sz="18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1AAB3-81CC-9511-1000-2711630AB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2" y="1645920"/>
            <a:ext cx="5660662" cy="3045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DC8AE3-A185-9B42-DE2A-2EEB4000E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13" y="1645920"/>
            <a:ext cx="5660245" cy="304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88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F9E2C-9DB0-C73A-07EE-EB7B2D74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4105B-31BA-63A3-DB0C-B237CDB03B18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Proof of the New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40272-47F2-C810-F079-0F16DB5B220B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12C99-704E-C5CA-F2AC-BBF5CCFEB839}"/>
              </a:ext>
            </a:extLst>
          </p:cNvPr>
          <p:cNvSpPr txBox="1"/>
          <p:nvPr/>
        </p:nvSpPr>
        <p:spPr>
          <a:xfrm>
            <a:off x="822960" y="5486400"/>
            <a:ext cx="9875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0F0F0"/>
                </a:solidFill>
                <a:latin typeface="Segoe UI"/>
              </a:rPr>
              <a:t>Dynamic Workspace Customization: Empower engineers to seamlessly tailor interface layouts to match the specific demands of diverse debugging use cases.</a:t>
            </a:r>
            <a:endParaRPr sz="18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2822D6-AA09-30B1-0AF1-0E0F5663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10" y="1770184"/>
            <a:ext cx="5673662" cy="3051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6C6B8A-4A21-E0E8-64F0-4E0A3969A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428" y="1775132"/>
            <a:ext cx="5673662" cy="304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18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A8C2A-FA40-837B-3C9E-9948BF77B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9A29B-DB09-F8A8-6E91-336697B8EE6E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Proof of the New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D75A3-2550-D91C-AB69-42CCBCE7A4A6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8DDD6-B86D-4FA2-E47A-6243D84AF30B}"/>
              </a:ext>
            </a:extLst>
          </p:cNvPr>
          <p:cNvSpPr txBox="1"/>
          <p:nvPr/>
        </p:nvSpPr>
        <p:spPr>
          <a:xfrm>
            <a:off x="822960" y="5486400"/>
            <a:ext cx="9875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0F0F0"/>
                </a:solidFill>
                <a:latin typeface="Segoe UI"/>
              </a:rPr>
              <a:t>Native Dark Theme Support: Features a fully optimized dark mode designed to minimize eye strain and enhance visual comfort during extended night testing or deep-dive triage sessions.</a:t>
            </a:r>
            <a:endParaRPr sz="18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1C148-D3D6-A920-DCB7-737119BC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429" y="1177628"/>
            <a:ext cx="7628582" cy="409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47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73658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 err="1">
                <a:solidFill>
                  <a:srgbClr val="F0F0F0"/>
                </a:solidFill>
              </a:rPr>
              <a:t>Keboard</a:t>
            </a:r>
            <a:r>
              <a:rPr lang="en-US" sz="2600" b="1" dirty="0">
                <a:solidFill>
                  <a:srgbClr val="F0F0F0"/>
                </a:solidFill>
              </a:rPr>
              <a:t> Shortcuts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Project Outcome and Value Delivered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984922-5D86-6B94-0ACA-F43878CD4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504706"/>
              </p:ext>
            </p:extLst>
          </p:nvPr>
        </p:nvGraphicFramePr>
        <p:xfrm>
          <a:off x="1916931" y="1662071"/>
          <a:ext cx="7264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993">
                  <a:extLst>
                    <a:ext uri="{9D8B030D-6E8A-4147-A177-3AD203B41FA5}">
                      <a16:colId xmlns:a16="http://schemas.microsoft.com/office/drawing/2014/main" val="2229903816"/>
                    </a:ext>
                  </a:extLst>
                </a:gridCol>
                <a:gridCol w="5282407">
                  <a:extLst>
                    <a:ext uri="{9D8B030D-6E8A-4147-A177-3AD203B41FA5}">
                      <a16:colId xmlns:a16="http://schemas.microsoft.com/office/drawing/2014/main" val="3010297878"/>
                    </a:ext>
                  </a:extLst>
                </a:gridCol>
              </a:tblGrid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ShortCut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503570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97216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806574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newest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8407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Shift +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the new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128898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 bookmark panel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331462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 auto-scroll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85639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search history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3317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72CCD-AE82-2707-DAC1-5B436E47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627BA-B249-0ED8-4034-39BDCE378417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5DEB1-5AA9-A00E-E81C-469866C90E32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Project Outcome and Value Delivered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9AE3E-68E5-7B52-6DBD-C3069E87EF6C}"/>
              </a:ext>
            </a:extLst>
          </p:cNvPr>
          <p:cNvSpPr txBox="1"/>
          <p:nvPr/>
        </p:nvSpPr>
        <p:spPr>
          <a:xfrm>
            <a:off x="803031" y="1575582"/>
            <a:ext cx="10849708" cy="3929281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Automated Device Onboarding: Drastically reduces setup friction by instantly triggering log streaming and screen-copy workflows upon ADB detection.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Proactive State Guardrails: System-wide action adaptation prevents configuration mistakes by dynamically managing feature states based on hardware availability.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Ergonomic Workspace Architecture: Replaces clunky, multi-tool setups with smooth scrolling canvas profiles, drag-to-merge layouts, and clear side-panel diagnostics.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• Uncompromised Data Continuity: Guarantees comprehensive trace preservation during prolonged testing cycles using a high-capacity, lag-free 500MB buffer window.</a:t>
            </a:r>
          </a:p>
        </p:txBody>
      </p:sp>
    </p:spTree>
    <p:extLst>
      <p:ext uri="{BB962C8B-B14F-4D97-AF65-F5344CB8AC3E}">
        <p14:creationId xmlns:p14="http://schemas.microsoft.com/office/powerpoint/2010/main" val="2250810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014B3-4BB2-D4D5-85F3-BC662A56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2539BB-2ADF-207E-4E4F-3F222F65B1C5}"/>
              </a:ext>
            </a:extLst>
          </p:cNvPr>
          <p:cNvSpPr txBox="1"/>
          <p:nvPr/>
        </p:nvSpPr>
        <p:spPr>
          <a:xfrm>
            <a:off x="1352073" y="2451253"/>
            <a:ext cx="9487854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F0F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 for your time and</a:t>
            </a:r>
          </a:p>
          <a:p>
            <a:r>
              <a:rPr lang="en-US" sz="5400" b="1" dirty="0">
                <a:solidFill>
                  <a:srgbClr val="F0F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your technical evaluation.</a:t>
            </a:r>
          </a:p>
        </p:txBody>
      </p:sp>
    </p:spTree>
    <p:extLst>
      <p:ext uri="{BB962C8B-B14F-4D97-AF65-F5344CB8AC3E}">
        <p14:creationId xmlns:p14="http://schemas.microsoft.com/office/powerpoint/2010/main" val="3502854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1811</Words>
  <Application>Microsoft Office PowerPoint</Application>
  <PresentationFormat>Widescreen</PresentationFormat>
  <Paragraphs>205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 VAN NGUYEN/LGEDV FUNCTION TECHNOLOGY TEAM</cp:lastModifiedBy>
  <cp:revision>59</cp:revision>
  <dcterms:created xsi:type="dcterms:W3CDTF">2013-01-27T09:14:16Z</dcterms:created>
  <dcterms:modified xsi:type="dcterms:W3CDTF">2026-09-30T07:00:25Z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