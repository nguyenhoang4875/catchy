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73" r:id="rId14"/>
    <p:sldId id="274" r:id="rId15"/>
    <p:sldId id="275" r:id="rId16"/>
    <p:sldId id="276" r:id="rId17"/>
    <p:sldId id="268" r:id="rId18"/>
    <p:sldId id="270" r:id="rId19"/>
    <p:sldId id="277" r:id="rId20"/>
    <p:sldId id="278" r:id="rId21"/>
    <p:sldId id="280" r:id="rId22"/>
    <p:sldId id="272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31FAB-3569-4268-ADE4-21751A4D2B5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99F42-699B-41DC-8DA4-94E98C9D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3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27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DBDBC-A30D-5A2B-C08F-21754223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3BC28-0FA5-C236-9FAD-B6ED53A56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57A07-90E5-C8AA-8B27-9AA745DFE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071C1-0A57-8D17-4842-F755D322B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99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8D1A-CB93-27B9-F988-4DE24004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D7EA3-230F-C40A-5148-398B00446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9DC66-ECF4-64AD-FB46-349144480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36678-9931-057D-4721-DB75CC448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61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D67B3-76D5-0C80-09B7-FAB58FEB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29719B-EB24-3C0B-66C4-825007327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F92EB-6951-A393-F49B-C25FF610B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921B2-3A85-BFCB-EDDE-8FE17EB4E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99F42-699B-41DC-8DA4-94E98C9D770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8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78297-363C-0149-10B4-BAE348F3CCE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78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Catchy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Desktop Log Viewer for Embedded and Android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6394269" cy="2913618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A unified platform for log analysis and real-time logcat monitoring</a:t>
            </a:r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pPr algn="l"/>
            <a:endParaRPr sz="22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Designed for large-scale log files, structured filtering, and workflow optimization</a:t>
            </a:r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pPr algn="l"/>
            <a:endParaRPr sz="22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200" dirty="0">
                <a:solidFill>
                  <a:srgbClr val="F0F0F0"/>
                </a:solidFill>
                <a:latin typeface="Segoe UI"/>
              </a:rPr>
              <a:t>Improves debugging speed, traceability, and usability compared with manual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3657600" cy="3108960"/>
          </a:xfrm>
          <a:prstGeom prst="roundRect">
            <a:avLst/>
          </a:prstGeom>
          <a:solidFill>
            <a:srgbClr val="61DAFB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Segoe UI"/>
              </a:rPr>
              <a:t>Catchy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Log viewer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Live stream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Search</a:t>
            </a:r>
            <a:br>
              <a:rPr dirty="0"/>
            </a:br>
            <a:r>
              <a:rPr sz="2000" b="1" dirty="0">
                <a:solidFill>
                  <a:srgbClr val="FFFFFF"/>
                </a:solidFill>
                <a:latin typeface="Segoe UI"/>
              </a:rPr>
              <a:t>Bookmark</a:t>
            </a:r>
            <a:endParaRPr lang="en-US" sz="2000" b="1" dirty="0">
              <a:solidFill>
                <a:srgbClr val="FFFFFF"/>
              </a:solidFill>
              <a:latin typeface="Segoe UI"/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Segoe UI"/>
              </a:rPr>
              <a:t>Screen Copy</a:t>
            </a:r>
            <a:endParaRPr sz="2000" b="1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Limitations of the Existing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6583680" cy="365760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Large log files are difficult to process efficiently without noticeable delays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Search and filtering operations are insufficient for rapid debugging workflows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The user must switch contexts between viewing logs and monitoring device activity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Important events are harder to trace and revisit during repeated debugging cycles</a:t>
            </a:r>
          </a:p>
          <a:p>
            <a:pPr algn="l"/>
            <a:r>
              <a:rPr sz="2100" dirty="0">
                <a:solidFill>
                  <a:srgbClr val="F0F0F0"/>
                </a:solidFill>
                <a:latin typeface="Segoe UI"/>
              </a:rPr>
              <a:t>The existing workflow does not support smooth live investigation and structured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00400" cy="2011680"/>
          </a:xfrm>
          <a:prstGeom prst="roundRect">
            <a:avLst/>
          </a:prstGeom>
          <a:solidFill>
            <a:srgbClr val="E06C75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Bonnibel.exe</a:t>
            </a:r>
            <a:br/>
            <a:r>
              <a:rPr sz="1900" b="1">
                <a:solidFill>
                  <a:srgbClr val="FFFFFF"/>
                </a:solidFill>
                <a:latin typeface="Segoe UI"/>
              </a:rPr>
              <a:t>Limited workflow</a:t>
            </a:r>
            <a:br/>
            <a:r>
              <a:rPr sz="1900" b="1">
                <a:solidFill>
                  <a:srgbClr val="FFFFFF"/>
                </a:solidFill>
                <a:latin typeface="Segoe UI"/>
              </a:rPr>
              <a:t>Slower triage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Comparative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Legacy Tool Versus Proposed System</a:t>
            </a:r>
          </a:p>
        </p:txBody>
      </p:sp>
      <p:pic>
        <p:nvPicPr>
          <p:cNvPr id="4" name="Picture 3" descr="Main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4864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>
                <a:solidFill>
                  <a:srgbClr val="61DAFB"/>
                </a:solidFill>
                <a:latin typeface="Segoe UI"/>
              </a:rPr>
              <a:t>The updated interface demonstrates a clearer layout, reduced operational friction, and a more efficient debugging workflow.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3DE8BD-9BB5-579B-6E0C-FBA2801F5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110" y="1644748"/>
            <a:ext cx="6142239" cy="3293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Measured Loading-Time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8992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File size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Catchy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Bonnibel.exe</a:t>
                      </a:r>
                    </a:p>
                  </a:txBody>
                  <a:tcPr marL="76200" marR="76200" marT="50800" marB="50800">
                    <a:solidFill>
                      <a:srgbClr val="98C3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under 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under 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100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3s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9s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250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6s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20s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500 MB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12s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45s / occasional UI freeze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3035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8C379"/>
                </a:solidFill>
                <a:latin typeface="Segoe UI"/>
              </a:rPr>
              <a:t>Result: Catchy maintains responsiveness even with large log files, whereas the legacy tool experiences noticeable delays.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Evidence of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Major Bottleneck Reduction and Enhanced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241280" cy="4114800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500MB logs load in approximately 12 seconds in Catchy, compared with about 45 seconds and occasional UI freezing in Bonnibel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The adaptive interface maintains responsiveness while streaming live logcat data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Automatic ADB state detection reduces user errors and improves operational reliability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Keyboard shortcuts and workflow automation significantly reduce manual navigation and debugging effort</a:t>
            </a:r>
          </a:p>
          <a:p>
            <a:pPr algn="l"/>
            <a:r>
              <a:rPr sz="1900" dirty="0">
                <a:solidFill>
                  <a:srgbClr val="F0F0F0"/>
                </a:solidFill>
                <a:latin typeface="Segoe UI"/>
              </a:rPr>
              <a:t>The system now supports continuous monitoring with a 500MB retention window and smooth scrolling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1280160"/>
          </a:xfrm>
          <a:prstGeom prst="roundRect">
            <a:avLst/>
          </a:prstGeom>
          <a:solidFill>
            <a:srgbClr val="61DAFB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QML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645920"/>
            <a:ext cx="2560320" cy="1280160"/>
          </a:xfrm>
          <a:prstGeom prst="roundRect">
            <a:avLst/>
          </a:prstGeom>
          <a:solidFill>
            <a:srgbClr val="98C379"/>
          </a:solidFill>
          <a:ln w="12700">
            <a:solidFill>
              <a:srgbClr val="98C3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2560320" cy="1280160"/>
          </a:xfrm>
          <a:prstGeom prst="roundRect">
            <a:avLst/>
          </a:prstGeom>
          <a:solidFill>
            <a:srgbClr val="C678DD"/>
          </a:solidFill>
          <a:ln w="12700">
            <a:solidFill>
              <a:srgbClr val="C678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</a:rPr>
              <a:t>Log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645920"/>
            <a:ext cx="2011680" cy="1280160"/>
          </a:xfrm>
          <a:prstGeom prst="roundRect">
            <a:avLst/>
          </a:prstGeom>
          <a:solidFill>
            <a:srgbClr val="E06C75"/>
          </a:solidFill>
          <a:ln w="12700">
            <a:solidFill>
              <a:srgbClr val="E0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Filters</a:t>
            </a:r>
            <a:br/>
            <a:r>
              <a:rPr sz="1600" b="1">
                <a:solidFill>
                  <a:srgbClr val="FFFFFF"/>
                </a:solidFill>
                <a:latin typeface="Segoe UI"/>
              </a:rPr>
              <a:t>Search</a:t>
            </a:r>
            <a:br/>
            <a:r>
              <a:rPr sz="1600" b="1">
                <a:solidFill>
                  <a:srgbClr val="FFFFFF"/>
                </a:solidFill>
                <a:latin typeface="Segoe UI"/>
              </a:rPr>
              <a:t>Bookmark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  <a:latin typeface="Segoe UI"/>
              </a:rPr>
              <a:t>The application follows an MVVM-inspired structure with worker threads to support large-file loading and live streaming.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4BAC2"/>
                </a:solidFill>
                <a:latin typeface="Segoe UI"/>
              </a:rPr>
              <a:t>The controller coordinates the core logic, while the QML layer ensures responsive visual updates and efficient user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Core Functional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149840" cy="3590727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Large-file processing with progress indicators and worker-thread execution</a:t>
            </a:r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endParaRPr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Live logcat streaming with auto-scroll and real-time refresh</a:t>
            </a:r>
          </a:p>
          <a:p>
            <a:pPr algn="l"/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Multi-keyword highlighting using color-coded matching for rapid analysis</a:t>
            </a:r>
          </a:p>
          <a:p>
            <a:pPr algn="l"/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Named filters for process and tag-based debugging workflows</a:t>
            </a:r>
          </a:p>
          <a:p>
            <a:pPr algn="l"/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dirty="0">
                <a:solidFill>
                  <a:srgbClr val="F0F0F0"/>
                </a:solidFill>
                <a:latin typeface="Segoe UI"/>
              </a:rPr>
              <a:t>Bookmark system for saving and revisiting critical log entries</a:t>
            </a:r>
          </a:p>
          <a:p>
            <a:pPr algn="l"/>
            <a:endParaRPr lang="en-US" sz="20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sz="2000" dirty="0" err="1">
                <a:solidFill>
                  <a:srgbClr val="F0F0F0"/>
                </a:solidFill>
                <a:latin typeface="Segoe UI"/>
              </a:rPr>
              <a:t>Scrcpy</a:t>
            </a:r>
            <a:r>
              <a:rPr sz="2000" dirty="0">
                <a:solidFill>
                  <a:srgbClr val="F0F0F0"/>
                </a:solidFill>
                <a:latin typeface="Segoe UI"/>
              </a:rPr>
              <a:t> integration for device-side visual verification and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Full Log Viewer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Main view with log table and filtering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0F0F0"/>
                </a:solidFill>
                <a:latin typeface="Segoe UI"/>
              </a:rPr>
              <a:t>The full log viewer provides a readable, structured interface for large logs, making analysis more efficient than a text-heavy legacy tool.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D750F9-14F0-753E-1154-F343CDC9C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273" y="1385987"/>
            <a:ext cx="9361534" cy="3948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Long Search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Quick keyword search and result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546" y="5314071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A dedicated search bar enables fast keyword search, better visibility, and quick navigation to relevant log entries</a:t>
            </a:r>
            <a:endParaRPr lang="en-US" sz="190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lang="en-US" sz="1900" b="0" dirty="0">
                <a:solidFill>
                  <a:srgbClr val="F0F0F0"/>
                </a:solidFill>
                <a:latin typeface="Segoe UI"/>
              </a:rPr>
              <a:t>Sh</a:t>
            </a:r>
            <a:r>
              <a:rPr lang="en-US" sz="1900" dirty="0">
                <a:solidFill>
                  <a:srgbClr val="F0F0F0"/>
                </a:solidFill>
                <a:latin typeface="Segoe UI"/>
              </a:rPr>
              <a:t>ow the </a:t>
            </a:r>
            <a:r>
              <a:rPr lang="en-US" sz="1900" b="0" dirty="0">
                <a:solidFill>
                  <a:srgbClr val="F0F0F0"/>
                </a:solidFill>
                <a:latin typeface="Segoe UI"/>
              </a:rPr>
              <a:t>hint of the history whey typing the work to search (Ctrl + Space)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098E64-E485-920E-8AC7-ADFF6864B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00" y="1334484"/>
            <a:ext cx="9429750" cy="3485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6B346-5AC7-036E-4ABF-0ADA994C6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25" y="1772918"/>
            <a:ext cx="9401175" cy="390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8B1043-BA5C-9291-7ABA-81B106216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286" y="2791263"/>
            <a:ext cx="9391650" cy="2400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6BCE4D-5D4A-59B4-4686-9C7ED5006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12" y="2269623"/>
            <a:ext cx="94488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Tag Filter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Color-coded tag and process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Named filters and color coding make it easy to isolate important processes and reduce noise in large log sets.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A3E0F-2019-9CFC-C978-D3B30F7DF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100" y="1508760"/>
            <a:ext cx="6363799" cy="37505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Tag Filter and Bookmark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Filter management and bookmark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84409"/>
            <a:ext cx="1051560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b="0" dirty="0">
                <a:solidFill>
                  <a:srgbClr val="F0F0F0"/>
                </a:solidFill>
                <a:latin typeface="Segoe UI"/>
              </a:rPr>
              <a:t>To mark the line: click to the line to select, right click to show the menu</a:t>
            </a:r>
          </a:p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The left-side panels allow users to monitor active filters and bookmarks without leaving the main debugging context</a:t>
            </a:r>
            <a:r>
              <a:rPr lang="en-US" sz="1900" b="0" dirty="0">
                <a:solidFill>
                  <a:srgbClr val="F0F0F0"/>
                </a:solidFill>
                <a:latin typeface="Segoe UI"/>
              </a:rPr>
              <a:t>, click to jump to the line of the bookmark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Click the bookmark to jump the line is marked and see around source code</a:t>
            </a:r>
          </a:p>
          <a:p>
            <a:pPr algn="l"/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076298-756B-2DB9-4D22-9B9B78BC8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847" y="1715414"/>
            <a:ext cx="6909025" cy="32900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552C6E-7272-8F9D-FDD1-39216DFED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128" y="1715414"/>
            <a:ext cx="1619250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Split View for Long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Readable handling of expanded log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77840"/>
            <a:ext cx="10515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dirty="0">
                <a:solidFill>
                  <a:srgbClr val="F0F0F0"/>
                </a:solidFill>
                <a:latin typeface="Segoe UI"/>
              </a:rPr>
              <a:t>The split layout keeps long line content readable and avoids the cramped interface that makes debugging difficult.</a:t>
            </a:r>
            <a:endParaRPr lang="en-US" sz="1900" b="0" dirty="0">
              <a:solidFill>
                <a:srgbClr val="F0F0F0"/>
              </a:solidFill>
              <a:latin typeface="Segoe UI"/>
            </a:endParaRP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Search with two layers: First search by tag, then search by word based on data are searched by tag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019B0D-33F6-64D5-5BAC-B08109811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343" y="1143000"/>
            <a:ext cx="8201843" cy="44153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A8EA1-1229-DD38-3BC2-03EC4B23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368AF-A579-78EF-9546-B71B2CD8DF23}"/>
              </a:ext>
            </a:extLst>
          </p:cNvPr>
          <p:cNvSpPr txBox="1"/>
          <p:nvPr/>
        </p:nvSpPr>
        <p:spPr>
          <a:xfrm>
            <a:off x="548640" y="320040"/>
            <a:ext cx="618861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Problems: Need to check multiple log files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278EE-B8FE-9BC0-A4AA-BC192E3B5ABE}"/>
              </a:ext>
            </a:extLst>
          </p:cNvPr>
          <p:cNvSpPr txBox="1"/>
          <p:nvPr/>
        </p:nvSpPr>
        <p:spPr>
          <a:xfrm>
            <a:off x="548640" y="886748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b="0" dirty="0">
                <a:solidFill>
                  <a:srgbClr val="F0F0F0"/>
                </a:solidFill>
                <a:latin typeface="Segoe UI"/>
              </a:rPr>
              <a:t>Already know solution 1: Open with multiple tabs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Take time and need to remember each time switch the tab</a:t>
            </a:r>
            <a:endParaRPr sz="19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A494AE-B9F9-728A-F5DF-8C976654E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5" y="1966827"/>
            <a:ext cx="9544929" cy="13149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ED0903-D028-2009-1904-FCFA886B7C7D}"/>
              </a:ext>
            </a:extLst>
          </p:cNvPr>
          <p:cNvSpPr txBox="1"/>
          <p:nvPr/>
        </p:nvSpPr>
        <p:spPr>
          <a:xfrm>
            <a:off x="548640" y="3684792"/>
            <a:ext cx="105156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Already know solution 2: Merged all logs file need to check in one file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Write some script(.bat, .</a:t>
            </a:r>
            <a:r>
              <a:rPr lang="en-US" sz="1900" dirty="0" err="1">
                <a:solidFill>
                  <a:srgbClr val="F0F0F0"/>
                </a:solidFill>
                <a:latin typeface="Segoe UI"/>
              </a:rPr>
              <a:t>py</a:t>
            </a:r>
            <a:r>
              <a:rPr lang="en-US" sz="1900" dirty="0">
                <a:solidFill>
                  <a:srgbClr val="F0F0F0"/>
                </a:solidFill>
                <a:latin typeface="Segoe UI"/>
              </a:rPr>
              <a:t>, …) to merged the log fist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=&gt;Then combine them to a file and check as normal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A1216-B0D7-F611-DB16-0AEC55C4D78E}"/>
              </a:ext>
            </a:extLst>
          </p:cNvPr>
          <p:cNvSpPr txBox="1"/>
          <p:nvPr/>
        </p:nvSpPr>
        <p:spPr>
          <a:xfrm>
            <a:off x="642425" y="5402757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The Tool Solution</a:t>
            </a:r>
            <a:r>
              <a:rPr lang="en-US" sz="1900" b="0" dirty="0">
                <a:solidFill>
                  <a:srgbClr val="F0F0F0"/>
                </a:solidFill>
                <a:latin typeface="Segoe UI"/>
              </a:rPr>
              <a:t>: Merged The file in the tool with open add file or drag to merged.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=&gt; Make them as a file in a tab only</a:t>
            </a:r>
            <a:endParaRPr lang="en-US" sz="1900" b="0" dirty="0">
              <a:solidFill>
                <a:srgbClr val="F0F0F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36658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19682-872F-0D87-2DB2-5B691B5C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E12E04-B7DF-A252-6486-BF2786023EE4}"/>
              </a:ext>
            </a:extLst>
          </p:cNvPr>
          <p:cNvSpPr txBox="1"/>
          <p:nvPr/>
        </p:nvSpPr>
        <p:spPr>
          <a:xfrm>
            <a:off x="548640" y="320040"/>
            <a:ext cx="696536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Open as new or merged (already load log before)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9725C-062B-E592-9CF2-2D5E0CA1ADB6}"/>
              </a:ext>
            </a:extLst>
          </p:cNvPr>
          <p:cNvSpPr txBox="1"/>
          <p:nvPr/>
        </p:nvSpPr>
        <p:spPr>
          <a:xfrm>
            <a:off x="822960" y="557784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Open new file: Drag to the top of half screen =&gt; Open as a new log (clear all old memory)</a:t>
            </a:r>
          </a:p>
          <a:p>
            <a:pPr algn="l"/>
            <a:r>
              <a:rPr lang="en-US" sz="1900" dirty="0">
                <a:solidFill>
                  <a:srgbClr val="F0F0F0"/>
                </a:solidFill>
                <a:latin typeface="Segoe UI"/>
              </a:rPr>
              <a:t>Merged file: Append the logs to the buffer and show in 1 tab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8B78AD-CF8D-A774-6370-C38881486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23" y="1386076"/>
            <a:ext cx="7578969" cy="4085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184C70-DD30-A173-7FDB-C18535AC2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2744" y="1386076"/>
            <a:ext cx="24003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98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8F95B-ACBD-886E-9539-FF6A42C9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83DE79-3EC5-289C-53C5-D213FDEBA252}"/>
              </a:ext>
            </a:extLst>
          </p:cNvPr>
          <p:cNvSpPr txBox="1"/>
          <p:nvPr/>
        </p:nvSpPr>
        <p:spPr>
          <a:xfrm>
            <a:off x="548640" y="320040"/>
            <a:ext cx="403084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UI after log files are merged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373A9-38D4-FFE9-59C5-55CB000A38CD}"/>
              </a:ext>
            </a:extLst>
          </p:cNvPr>
          <p:cNvSpPr txBox="1"/>
          <p:nvPr/>
        </p:nvSpPr>
        <p:spPr>
          <a:xfrm>
            <a:off x="822960" y="5577840"/>
            <a:ext cx="105156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After merging: The UI displays the logs as a single open file.</a:t>
            </a:r>
          </a:p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File name: The new file name combines the names of all merged log files.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8AFF6-EF07-C4AC-7F14-EF5523DAF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46" y="848360"/>
            <a:ext cx="8850924" cy="469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80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93B982-8673-F2F5-C862-8A5DEE34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A2418A-B1D0-F15F-68E1-E98BB0989C04}"/>
              </a:ext>
            </a:extLst>
          </p:cNvPr>
          <p:cNvSpPr txBox="1"/>
          <p:nvPr/>
        </p:nvSpPr>
        <p:spPr>
          <a:xfrm>
            <a:off x="548640" y="320040"/>
            <a:ext cx="546502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F0F0F0"/>
                </a:solidFill>
              </a:rPr>
              <a:t>Easy to view when a line of log is long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86544-9A51-A710-55FD-17D8889334C5}"/>
              </a:ext>
            </a:extLst>
          </p:cNvPr>
          <p:cNvSpPr txBox="1"/>
          <p:nvPr/>
        </p:nvSpPr>
        <p:spPr>
          <a:xfrm>
            <a:off x="822960" y="5846784"/>
            <a:ext cx="10515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solidFill>
                  <a:srgbClr val="F0F0F0"/>
                </a:solidFill>
                <a:latin typeface="Segoe UI"/>
              </a:rPr>
              <a:t>Can use the whole screen to show a long line of long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641C89-98D3-43D5-8A5F-EEB7CA36D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54" y="812482"/>
            <a:ext cx="9401908" cy="502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91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Auto-enable Scrcpy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Smart device integration</a:t>
            </a:r>
          </a:p>
        </p:txBody>
      </p:sp>
      <p:pic>
        <p:nvPicPr>
          <p:cNvPr id="4" name="Picture 3" descr="Auto_Enable_Scrc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377" y="1143000"/>
            <a:ext cx="6185099" cy="4265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0F0F0"/>
                </a:solidFill>
                <a:latin typeface="Segoe UI"/>
              </a:rPr>
              <a:t>When the device is connected, the app automatically enables the screen-copy workflow for a smoother live debugging experience.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Testing &amp; Validation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372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Validation area</a:t>
                      </a:r>
                    </a:p>
                  </a:txBody>
                  <a:tcPr marL="76200" marR="76200" marT="50800" marB="50800">
                    <a:solidFill>
                      <a:srgbClr val="61D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Result</a:t>
                      </a:r>
                    </a:p>
                  </a:txBody>
                  <a:tcPr marL="76200" marR="76200" marT="50800" marB="50800">
                    <a:solidFill>
                      <a:srgbClr val="61D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Large log loading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Responsive while reading and parsing huge files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Live stream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Stable updates and auto-scroll control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Filters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Fast matching and color grouping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Search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Highlight multiple keywords correctly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Bookmarks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Quick jump and persistence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UI behavior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Dark/light theme and table responsiveness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ADB device handling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0F0F0"/>
                          </a:solidFill>
                          <a:latin typeface="Segoe UI"/>
                        </a:rPr>
                        <a:t>Auto enable/disable based on connection state</a:t>
                      </a:r>
                    </a:p>
                  </a:txBody>
                  <a:tcPr marL="76200" marR="76200" marT="50800" marB="50800">
                    <a:solidFill>
                      <a:srgbClr val="1E2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242C7-7E99-76A4-C8CE-4C3E47A1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EFB98C-3A5B-90E4-EB8D-9E8490799090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Proof of the New UI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44D1E-392F-424E-F652-A02FA56A62DD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Easy-to-use workflow and improved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7ECFA-ABC0-07F0-808B-906F54BEDE9E}"/>
              </a:ext>
            </a:extLst>
          </p:cNvPr>
          <p:cNvSpPr txBox="1"/>
          <p:nvPr/>
        </p:nvSpPr>
        <p:spPr>
          <a:xfrm>
            <a:off x="822960" y="54864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F0F0F0"/>
                </a:solidFill>
                <a:latin typeface="Segoe UI"/>
              </a:rPr>
              <a:t>The updated interface and feature set show a cleaner, more usable, and more efficient debugging workflow.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F1AAB3-81CC-9511-1000-2711630AB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02" y="1645920"/>
            <a:ext cx="5660662" cy="30455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DC8AE3-A185-9B42-DE2A-2EEB4000E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413" y="1645920"/>
            <a:ext cx="5660245" cy="304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88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F9E2C-9DB0-C73A-07EE-EB7B2D74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4105B-31BA-63A3-DB0C-B237CDB03B18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0F0F0"/>
                </a:solidFill>
              </a:rPr>
              <a:t>Proof of the New UI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40272-47F2-C810-F079-0F16DB5B220B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dirty="0">
                <a:solidFill>
                  <a:srgbClr val="B4BAC2"/>
                </a:solidFill>
              </a:rPr>
              <a:t>Easy-to-use workflow and improved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B12C99-704E-C5CA-F2AC-BBF5CCFEB839}"/>
              </a:ext>
            </a:extLst>
          </p:cNvPr>
          <p:cNvSpPr txBox="1"/>
          <p:nvPr/>
        </p:nvSpPr>
        <p:spPr>
          <a:xfrm>
            <a:off x="822960" y="548640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0F0F0"/>
                </a:solidFill>
                <a:latin typeface="Segoe UI"/>
              </a:rPr>
              <a:t>Easily customize layouts for multiple use cases</a:t>
            </a:r>
            <a:endParaRPr sz="18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2822D6-AA09-30B1-0AF1-0E0F5663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10" y="1770184"/>
            <a:ext cx="5673662" cy="30518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6C6B8A-4A21-E0E8-64F0-4E0A3969A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428" y="1775132"/>
            <a:ext cx="5673662" cy="304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18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A8C2A-FA40-837B-3C9E-9948BF77B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9A29B-DB09-F8A8-6E91-336697B8EE6E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F0F0F0"/>
                </a:solidFill>
              </a:rPr>
              <a:t>Proof of the New UI and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D75A3-2550-D91C-AB69-42CCBCE7A4A6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dirty="0">
                <a:solidFill>
                  <a:srgbClr val="B4BAC2"/>
                </a:solidFill>
              </a:rPr>
              <a:t>Easy-to-use workflow and improved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8DDD6-B86D-4FA2-E47A-6243D84AF30B}"/>
              </a:ext>
            </a:extLst>
          </p:cNvPr>
          <p:cNvSpPr txBox="1"/>
          <p:nvPr/>
        </p:nvSpPr>
        <p:spPr>
          <a:xfrm>
            <a:off x="822960" y="5486400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dirty="0">
                <a:solidFill>
                  <a:srgbClr val="F0F0F0"/>
                </a:solidFill>
                <a:latin typeface="Segoe UI"/>
              </a:rPr>
              <a:t>Support the dark theme</a:t>
            </a:r>
            <a:endParaRPr sz="1800" b="0" dirty="0">
              <a:solidFill>
                <a:srgbClr val="F0F0F0"/>
              </a:solidFill>
              <a:latin typeface="Segoe 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1C148-D3D6-A920-DCB7-737119BC5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429" y="1177628"/>
            <a:ext cx="7628582" cy="409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47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73658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 err="1">
                <a:solidFill>
                  <a:srgbClr val="F0F0F0"/>
                </a:solidFill>
              </a:rPr>
              <a:t>Keboard</a:t>
            </a:r>
            <a:r>
              <a:rPr lang="en-US" sz="2600" b="1" dirty="0">
                <a:solidFill>
                  <a:srgbClr val="F0F0F0"/>
                </a:solidFill>
              </a:rPr>
              <a:t> Shortcuts</a:t>
            </a:r>
            <a:endParaRPr sz="2600" b="1" dirty="0">
              <a:solidFill>
                <a:srgbClr val="F0F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Project Outcome and Value Delivered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984922-5D86-6B94-0ACA-F43878CD4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504706"/>
              </p:ext>
            </p:extLst>
          </p:nvPr>
        </p:nvGraphicFramePr>
        <p:xfrm>
          <a:off x="1916931" y="1662071"/>
          <a:ext cx="7264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993">
                  <a:extLst>
                    <a:ext uri="{9D8B030D-6E8A-4147-A177-3AD203B41FA5}">
                      <a16:colId xmlns:a16="http://schemas.microsoft.com/office/drawing/2014/main" val="2229903816"/>
                    </a:ext>
                  </a:extLst>
                </a:gridCol>
                <a:gridCol w="5282407">
                  <a:extLst>
                    <a:ext uri="{9D8B030D-6E8A-4147-A177-3AD203B41FA5}">
                      <a16:colId xmlns:a16="http://schemas.microsoft.com/office/drawing/2014/main" val="3010297878"/>
                    </a:ext>
                  </a:extLst>
                </a:gridCol>
              </a:tblGrid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ShortCut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503570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Seach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97216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806574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newest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08407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Shift +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the new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128898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Toggle bookmark panel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331462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Toggle auto-scroll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856396"/>
                  </a:ext>
                </a:extLst>
              </a:tr>
              <a:tr h="3555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Ctrl +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search history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3317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972CCD-AE82-2707-DAC1-5B436E47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C627BA-B249-0ED8-4034-39BDCE378417}"/>
              </a:ext>
            </a:extLst>
          </p:cNvPr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0F0F0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5DEB1-5AA9-A00E-E81C-469866C90E32}"/>
              </a:ext>
            </a:extLst>
          </p:cNvPr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B4BAC2"/>
                </a:solidFill>
              </a:rPr>
              <a:t>Project Outcome and Value Delivered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9AE3E-68E5-7B52-6DBD-C3069E87EF6C}"/>
              </a:ext>
            </a:extLst>
          </p:cNvPr>
          <p:cNvSpPr txBox="1"/>
          <p:nvPr/>
        </p:nvSpPr>
        <p:spPr>
          <a:xfrm>
            <a:off x="803031" y="1575582"/>
            <a:ext cx="10849708" cy="3929281"/>
          </a:xfrm>
          <a:prstGeom prst="rect">
            <a:avLst/>
          </a:prstGeom>
          <a:noFill/>
        </p:spPr>
        <p:txBody>
          <a:bodyPr wrap="square" lIns="127000" tIns="101600" rIns="127000" bIns="101600">
            <a:spAutoFit/>
          </a:bodyPr>
          <a:lstStyle/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Smart Device Detection: Automatically enables Start Stream Logcat and Start Screen Copy when an ADB device connects.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Dynamic State Management: Automatically disables these actions when no compatible device is available.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Streamlined UI &amp; UX: Features smooth scrolling, drag-to-open file handling, and an efficient side-panel layout to drastically reduce friction during log analysis.</a:t>
            </a:r>
          </a:p>
          <a:p>
            <a:endParaRPr lang="en-US" sz="2200" dirty="0">
              <a:solidFill>
                <a:srgbClr val="F0F0F0"/>
              </a:solidFill>
              <a:latin typeface="Segoe UI"/>
            </a:endParaRPr>
          </a:p>
          <a:p>
            <a:r>
              <a:rPr lang="en-US" sz="2200" dirty="0">
                <a:solidFill>
                  <a:srgbClr val="F0F0F0"/>
                </a:solidFill>
                <a:latin typeface="Segoe UI"/>
              </a:rPr>
              <a:t>Continuous Monitoring: A 500MB retention window preserves recent activity, supporting continuous live monitoring without losing critical context.</a:t>
            </a:r>
            <a:endParaRPr sz="2200" dirty="0">
              <a:solidFill>
                <a:srgbClr val="F0F0F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50810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1110</Words>
  <Application>Microsoft Office PowerPoint</Application>
  <PresentationFormat>Widescreen</PresentationFormat>
  <Paragraphs>159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HOANG VAN NGUYEN/LGEDV FUNCTION TECHNOLOGY TEAM</cp:lastModifiedBy>
  <cp:revision>29</cp:revision>
  <dcterms:created xsi:type="dcterms:W3CDTF">2013-01-27T09:14:16Z</dcterms:created>
  <dcterms:modified xsi:type="dcterms:W3CDTF">2026-09-29T10:35:40Z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LGE Internal Use Only</vt:lpwstr>
  </property>
</Properties>
</file>